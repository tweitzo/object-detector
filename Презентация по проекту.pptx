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258" r:id="rId3"/>
    <p:sldId id="2790" r:id="rId4"/>
    <p:sldId id="2796" r:id="rId5"/>
    <p:sldId id="2791" r:id="rId6"/>
    <p:sldId id="2792" r:id="rId7"/>
    <p:sldId id="2793" r:id="rId8"/>
    <p:sldId id="2795" r:id="rId9"/>
    <p:sldId id="278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334"/>
    <a:srgbClr val="C00000"/>
    <a:srgbClr val="FFB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75" d="100"/>
          <a:sy n="75" d="100"/>
        </p:scale>
        <p:origin x="312" y="2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E0483-793B-4401-865A-8307974159DB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40AE3-311D-48C8-81FC-C1EF8DFC0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016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C7F6-8795-41B3-BFE1-6177D44CC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C4982E-FFAD-46E6-AFB3-30582E563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402079-772A-41C1-B1F9-0A4ABB72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F62D7-68D4-4E93-B5B8-B0032F51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F925EB-6037-455A-A0AC-F6CDFEC1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30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B5F6D-C0E6-47F4-8F3D-3A0A3F7B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190986-10BF-4618-8435-EB1034842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7D632B-E621-46E4-84E1-C75BFF872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B4D0D8-4427-457B-A0EA-D162A49D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8C7F25-91C9-4C39-8E7F-63635845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7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46C36-D875-418B-8581-D49729AD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4D5738-604F-46FE-A13E-045D47E6C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1BD515-18D3-42FD-9ABE-771F45CC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F83DD5-7A5A-4305-8D6C-FEE242A7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CF7D11-A3F6-4A42-80F6-77D12ECE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39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52114-C2ED-4EA2-808F-F7AC9F203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4895FC-3304-4421-8B5F-AC8AFF7BF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B73E55-D392-4579-8CA9-66E7A7900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2B8821-973A-407D-A6A9-39757D27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92CC07-BC72-46B4-A5C5-409A8560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C54706-C2BB-482E-B69F-4F5CE507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93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D0126-37D9-495C-9B45-242E7E50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70E1F1-0E6D-44AB-9FDC-565CCFA56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8D54A0-DFE2-4087-8BD3-1439984FD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3D770A-6327-4070-B0BD-5E5EC4F02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64E74A-2AFB-4472-86F2-4282D2184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E74FFB-CCC6-4098-9102-029C03A6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4BA8E9-A857-4EFC-9789-CD22894F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E3819E-A3F1-40FC-B260-E4F324C3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58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403E6-1439-4B37-AF64-790F5258C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28FD9A-76BE-4F02-9BEE-447FF0EA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0C383E-DC04-4961-80EA-BC8EED323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9B7487-30F2-465D-BDDE-11D8905E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69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6A319B-0710-4C2E-893F-D933B50A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8F2CEC-5345-490C-853B-AE258700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B4EBD2-3B9C-4D51-966D-CE3063B4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013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8BCD5-5918-4E00-9506-E0CF429A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7B247E-10DA-4983-9D37-2259512EA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E7225F-5BF7-4131-B1DA-8A5CB4AA2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A2BBFC-E089-425C-B9B1-F9845C2F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C74B6F-D154-4E44-BFA0-1F3C0185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11870B-D35C-4E4B-A095-663552DF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55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D6740-D547-4B60-8B27-EC50D55A8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12BB6C-1F7C-4DC9-BA78-90CC425BA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44AC5D-D765-4307-A09E-92CA9CC13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D575D8-8CD4-4126-9AA4-2B8171703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1F053-1423-429D-AFEB-C15E2951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FBBDBE-F1E1-4558-8DA3-10A421AAE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89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61A0B-5125-4C3D-A140-95DA22C5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57085F-FC73-45F1-A2D5-A7BCAC866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D231AD-D5D8-495F-A536-15EC88731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341187-6950-44F1-9FD4-7031A612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9A4927-2D0F-4408-8945-A1CA3BAD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84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8A94C2-0E21-482C-81ED-28C12E01B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EB1C34-22D2-4AA3-B2D3-B76B4B8C6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209C77-1BE9-4D02-9FB1-9981410D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151D31-7168-47A5-AEB6-E1394CB0A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17F8DD-B76F-4CF8-B541-B0A6948F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32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74B6D7-2A00-4389-A22B-930769459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912C7C-1F68-4494-B577-554E7C743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3E6970-23FC-4034-8FD3-F8573CB54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FCB9A-AB07-414D-B5B4-770EA6F6361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3072D0-114C-492D-B198-F47A63265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F52637-ADDB-4561-9705-71B175B1F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71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647536" y="1272220"/>
            <a:ext cx="11239664" cy="30203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4800" b="1" cap="al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интеллектуальной системы обнаружения объектов на </a:t>
            </a:r>
            <a:r>
              <a:rPr lang="ru-RU" altLang="ru-RU" sz="4800" b="1" cap="all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изображениях</a:t>
            </a:r>
            <a:endParaRPr lang="ru-RU" altLang="ru-RU" sz="4800" b="1" cap="all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3D7F4B3-1F19-4201-9557-DDF12DBEDF75}"/>
              </a:ext>
            </a:extLst>
          </p:cNvPr>
          <p:cNvSpPr/>
          <p:nvPr/>
        </p:nvSpPr>
        <p:spPr>
          <a:xfrm>
            <a:off x="647535" y="4559631"/>
            <a:ext cx="1116999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Проект по дисциплине «Проектный практикум»</a:t>
            </a:r>
          </a:p>
          <a:p>
            <a:endParaRPr lang="ru-RU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Выполнил: </a:t>
            </a:r>
            <a:r>
              <a:rPr lang="ru-RU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Гайнуллин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Илсаф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Илнурович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Группа: ЗИИНм-1-26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Руководитель: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Хамитов Ренат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Минзашарифович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доцент, к.т.н., доцент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каф.ИТИС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390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2054831" y="162795"/>
            <a:ext cx="9414357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Цель и задачи проекта</a:t>
            </a:r>
            <a:endParaRPr lang="ru-RU" sz="2400" b="1" cap="all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B893850-79F8-4257-9B38-1693348B6313}"/>
              </a:ext>
            </a:extLst>
          </p:cNvPr>
          <p:cNvSpPr/>
          <p:nvPr/>
        </p:nvSpPr>
        <p:spPr>
          <a:xfrm>
            <a:off x="421906" y="1260525"/>
            <a:ext cx="556088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/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Формулировка задачи</a:t>
            </a:r>
          </a:p>
          <a:p>
            <a:pPr marL="355600" lvl="1" indent="-3429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Создание полноценной программной системы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для обнаружения объектов на изображениях с использованием нейронной сети DETR</a:t>
            </a:r>
            <a:endParaRPr lang="ru-RU" sz="20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FA5C6F5-1EFF-42A3-80C5-C8DCFA9B66A7}"/>
              </a:ext>
            </a:extLst>
          </p:cNvPr>
          <p:cNvSpPr/>
          <p:nvPr/>
        </p:nvSpPr>
        <p:spPr>
          <a:xfrm>
            <a:off x="6631117" y="1252701"/>
            <a:ext cx="528148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/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Цель работы</a:t>
            </a:r>
          </a:p>
          <a:p>
            <a:pPr marL="355600" lvl="1" indent="-3429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разработать веб-приложение для автоматического обнаружения объектов на </a:t>
            </a:r>
            <a:r>
              <a:rPr lang="ru-RU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изображениях</a:t>
            </a:r>
          </a:p>
          <a:p>
            <a:pPr marL="355600" lvl="1" indent="-3429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2000" b="1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2700" lvl="1" algn="just" fontAlgn="base"/>
            <a:r>
              <a:rPr lang="ru-RU" sz="20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Задачи</a:t>
            </a:r>
            <a:endParaRPr lang="ru-RU" sz="20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lvl="1" indent="-3429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Изучить модель компьютерного зрения DETR</a:t>
            </a:r>
            <a:r>
              <a:rPr lang="ru-RU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55600" lvl="1" indent="-3429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Реализовать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обработку изображений</a:t>
            </a:r>
            <a:r>
              <a:rPr lang="ru-RU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55600" lvl="1" indent="-3429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Создать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веб-интерфейс на </a:t>
            </a:r>
            <a:r>
              <a:rPr lang="ru-RU" sz="20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Streamlit</a:t>
            </a:r>
            <a:r>
              <a:rPr lang="ru-RU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55600" lvl="1" indent="-3429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Разработать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API на </a:t>
            </a:r>
            <a:r>
              <a:rPr lang="ru-RU" sz="20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FastAPI</a:t>
            </a:r>
            <a:r>
              <a:rPr lang="ru-RU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55600" lvl="1" indent="-3429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Проверить</a:t>
            </a:r>
            <a:r>
              <a:rPr lang="en-US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работоспособность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приложения.</a:t>
            </a:r>
            <a:endParaRPr lang="ru-RU" sz="20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06" y="2779614"/>
            <a:ext cx="5906651" cy="283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28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2065106" y="162795"/>
            <a:ext cx="9924835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Используемые технологии</a:t>
            </a:r>
            <a:endParaRPr lang="ru-RU" sz="2400" b="1" cap="all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441B485-D7CD-49CD-A4E6-BA79C5E7DDC0}"/>
              </a:ext>
            </a:extLst>
          </p:cNvPr>
          <p:cNvSpPr/>
          <p:nvPr/>
        </p:nvSpPr>
        <p:spPr>
          <a:xfrm>
            <a:off x="3224482" y="1678545"/>
            <a:ext cx="8140204" cy="3527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lvl="1" indent="-342900" algn="just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Python — </a:t>
            </a:r>
            <a:r>
              <a:rPr lang="ru-RU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основной язык </a:t>
            </a:r>
            <a:r>
              <a:rPr lang="ru-RU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программирования</a:t>
            </a:r>
          </a:p>
          <a:p>
            <a:pPr marL="355600" lvl="1" indent="-342900" algn="just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60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lvl="1" indent="-342900" algn="just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40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lvl="1" indent="-342900" algn="just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DETR </a:t>
            </a:r>
            <a:r>
              <a:rPr lang="ru-RU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ResNet-50 — модель обнаружения </a:t>
            </a:r>
            <a:r>
              <a:rPr lang="ru-RU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объектов</a:t>
            </a:r>
          </a:p>
          <a:p>
            <a:pPr marL="12700" lvl="1" algn="just" fontAlgn="base">
              <a:lnSpc>
                <a:spcPct val="90000"/>
              </a:lnSpc>
            </a:pPr>
            <a:endParaRPr lang="ru-RU" sz="12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lvl="1" indent="-342900" algn="just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lvl="1" indent="-342900" algn="just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— </a:t>
            </a:r>
            <a:r>
              <a:rPr lang="ru-RU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веб-интерфейс</a:t>
            </a:r>
          </a:p>
          <a:p>
            <a:pPr marL="12700" lvl="1" algn="just" fontAlgn="base">
              <a:lnSpc>
                <a:spcPct val="90000"/>
              </a:lnSpc>
            </a:pPr>
            <a:endParaRPr lang="ru-RU" sz="280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lvl="1" indent="-342900" algn="just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FastAPI</a:t>
            </a: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— </a:t>
            </a:r>
            <a:r>
              <a:rPr lang="ru-RU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программный интерфейс </a:t>
            </a: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API</a:t>
            </a:r>
            <a:endParaRPr lang="ru-RU" sz="240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2700" lvl="1" algn="just" fontAlgn="base">
              <a:lnSpc>
                <a:spcPct val="90000"/>
              </a:lnSpc>
            </a:pPr>
            <a:endParaRPr lang="ru-RU" sz="360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lvl="1" indent="-342900" algn="just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GitHub </a:t>
            </a:r>
            <a:r>
              <a:rPr lang="en-US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— </a:t>
            </a:r>
            <a:r>
              <a:rPr lang="ru-RU" sz="24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хранение исходного кода</a:t>
            </a:r>
            <a:endParaRPr lang="ru-RU" sz="24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6774"/>
          <a:stretch/>
        </p:blipFill>
        <p:spPr>
          <a:xfrm>
            <a:off x="2220686" y="1446296"/>
            <a:ext cx="817156" cy="381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7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1982913" y="162795"/>
            <a:ext cx="9486276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АРХИТЕКТУРА ПРИЛОЖЕНИЯ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971" y="1255234"/>
            <a:ext cx="8943577" cy="481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1982913" y="162795"/>
            <a:ext cx="9486276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ДЕМОНСТРАЦИЯ ПРИЛОЖЕНИЯ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BC826-69E1-8BFB-DA75-862BF314D723}"/>
              </a:ext>
            </a:extLst>
          </p:cNvPr>
          <p:cNvSpPr txBox="1"/>
          <p:nvPr/>
        </p:nvSpPr>
        <p:spPr>
          <a:xfrm>
            <a:off x="2604014" y="5216731"/>
            <a:ext cx="1748670" cy="343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Главный экран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DE66E-0176-74D1-E86C-A1CA369F84AD}"/>
              </a:ext>
            </a:extLst>
          </p:cNvPr>
          <p:cNvSpPr txBox="1"/>
          <p:nvPr/>
        </p:nvSpPr>
        <p:spPr>
          <a:xfrm>
            <a:off x="8073359" y="5202755"/>
            <a:ext cx="1748670" cy="343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  <a:spcBef>
                <a:spcPts val="0"/>
              </a:spcBef>
            </a:pP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Результат</a:t>
            </a:r>
            <a:endParaRPr lang="ru-RU" sz="18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00" y="1841499"/>
            <a:ext cx="5042989" cy="31864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13" y="1841499"/>
            <a:ext cx="5325472" cy="31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88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1982913" y="162795"/>
            <a:ext cx="9486276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ОРГАНИЗАЦИЯ КОМАНДНОЙ РАЗРАБОТКИ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44A65F-E188-4968-B07C-25421CD26538}"/>
              </a:ext>
            </a:extLst>
          </p:cNvPr>
          <p:cNvSpPr/>
          <p:nvPr/>
        </p:nvSpPr>
        <p:spPr>
          <a:xfrm>
            <a:off x="421906" y="1260525"/>
            <a:ext cx="30694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Репозиторий  </a:t>
            </a:r>
            <a:r>
              <a:rPr lang="en-US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GitHub</a:t>
            </a:r>
            <a:r>
              <a:rPr lang="en-US" sz="20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endParaRPr lang="ru-RU" sz="2000" b="1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2700" lvl="1" algn="just" fontAlgn="base">
              <a:lnSpc>
                <a:spcPct val="90000"/>
              </a:lnSpc>
            </a:pPr>
            <a:endParaRPr lang="ru-RU" sz="20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2700" lvl="1" algn="just" fontAlgn="base">
              <a:lnSpc>
                <a:spcPct val="90000"/>
              </a:lnSpc>
              <a:spcBef>
                <a:spcPts val="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github.com/tweitzo/object-detector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299" y="1260525"/>
            <a:ext cx="8145648" cy="504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59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1982913" y="162795"/>
            <a:ext cx="9486276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 smtClean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развертывание </a:t>
            </a: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в облаке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44A65F-E188-4968-B07C-25421CD26538}"/>
              </a:ext>
            </a:extLst>
          </p:cNvPr>
          <p:cNvSpPr/>
          <p:nvPr/>
        </p:nvSpPr>
        <p:spPr>
          <a:xfrm>
            <a:off x="500283" y="1230294"/>
            <a:ext cx="10968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Приложение было развернуто в облаке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streamlit.io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 помощью функции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Create app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напрямую с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GitHub</a:t>
            </a:r>
            <a:endParaRPr lang="ru-RU" sz="20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164E3E-3676-D3C0-40D1-84C54A0168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50" t="10320" r="7715" b="12770"/>
          <a:stretch/>
        </p:blipFill>
        <p:spPr>
          <a:xfrm>
            <a:off x="925620" y="3611339"/>
            <a:ext cx="5740158" cy="2043617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43" y="1926395"/>
            <a:ext cx="6286258" cy="148382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051" y="2301624"/>
            <a:ext cx="5283806" cy="391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0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1982913" y="162795"/>
            <a:ext cx="9486276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ИТОГИ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859100C-1BEA-48D9-9758-3D655F102C29}"/>
              </a:ext>
            </a:extLst>
          </p:cNvPr>
          <p:cNvSpPr/>
          <p:nvPr/>
        </p:nvSpPr>
        <p:spPr>
          <a:xfrm>
            <a:off x="421906" y="1286399"/>
            <a:ext cx="11369041" cy="2120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lvl="1" indent="-285750" algn="just" fontAlgn="base">
              <a:lnSpc>
                <a:spcPct val="150000"/>
              </a:lnSpc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Создано 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веб-приложение для обнаружения </a:t>
            </a: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объектов.</a:t>
            </a:r>
          </a:p>
          <a:p>
            <a:pPr marL="298450" lvl="1" indent="-285750" algn="just" fontAlgn="base">
              <a:lnSpc>
                <a:spcPct val="150000"/>
              </a:lnSpc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Реализован 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API для обработки изображений</a:t>
            </a: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298450" lvl="1" indent="-285750" algn="just" fontAlgn="base">
              <a:lnSpc>
                <a:spcPct val="150000"/>
              </a:lnSpc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Проведено тестирование: 4 теста пройдены </a:t>
            </a: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успешно.</a:t>
            </a:r>
          </a:p>
          <a:p>
            <a:pPr marL="298450" lvl="1" indent="-285750" algn="just" fontAlgn="base">
              <a:lnSpc>
                <a:spcPct val="150000"/>
              </a:lnSpc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Проверена 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работа метода POST /</a:t>
            </a:r>
            <a:r>
              <a:rPr lang="ru-RU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detect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 на тестовом изображении обнаружено 3 </a:t>
            </a: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объекта.</a:t>
            </a:r>
          </a:p>
          <a:p>
            <a:pPr marL="298450" lvl="1" indent="-285750" algn="just" fontAlgn="base">
              <a:lnSpc>
                <a:spcPct val="150000"/>
              </a:lnSpc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Исходный 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код размещён на </a:t>
            </a:r>
            <a:r>
              <a:rPr lang="ru-RU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GitHub</a:t>
            </a: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322A68-87C4-417D-8E3D-5B22DB5CACA8}"/>
              </a:ext>
            </a:extLst>
          </p:cNvPr>
          <p:cNvSpPr/>
          <p:nvPr/>
        </p:nvSpPr>
        <p:spPr>
          <a:xfrm>
            <a:off x="421906" y="5151921"/>
            <a:ext cx="5560883" cy="96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Ссылка на репозиторий с кодом</a:t>
            </a:r>
          </a:p>
          <a:p>
            <a:pPr marL="355600" lvl="1" indent="-342900" algn="just" fontAlgn="base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https://github.com/tweitzo/object-detector</a:t>
            </a:r>
            <a:endParaRPr lang="en-US" sz="20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1906" y="3717758"/>
            <a:ext cx="11369041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lvl="1" indent="-285750" algn="just" fontAlgn="base">
              <a:lnSpc>
                <a:spcPct val="150000"/>
              </a:lnSpc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Вывод: поставленная цель достигнута — разработано приложение, позволяющее автоматически обнаруживать и классифицировать объекты на изображениях.</a:t>
            </a:r>
            <a:endParaRPr lang="ru-RU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57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925620" y="3175961"/>
            <a:ext cx="10865327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>
              <a:spcAft>
                <a:spcPts val="0"/>
              </a:spcAft>
            </a:pPr>
            <a:r>
              <a:rPr lang="ru-RU" sz="4000" b="1" cap="all" dirty="0">
                <a:solidFill>
                  <a:srgbClr val="C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6AA37-D9E8-497C-80E1-BA0A4BC4ADD3}"/>
              </a:ext>
            </a:extLst>
          </p:cNvPr>
          <p:cNvSpPr txBox="1"/>
          <p:nvPr/>
        </p:nvSpPr>
        <p:spPr>
          <a:xfrm>
            <a:off x="7423544" y="5702206"/>
            <a:ext cx="43674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Контакты: </a:t>
            </a:r>
            <a:r>
              <a:rPr lang="en-US" sz="2000" b="1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ilsafgaunullin@gmail.com</a:t>
            </a:r>
            <a:endParaRPr lang="ru-RU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2190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222</Words>
  <Application>Microsoft Office PowerPoint</Application>
  <PresentationFormat>Широкоэкранный</PresentationFormat>
  <Paragraphs>53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Tahoma</vt:lpstr>
      <vt:lpstr>Times New Roman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Валентина</dc:creator>
  <cp:lastModifiedBy>tweitzo</cp:lastModifiedBy>
  <cp:revision>55</cp:revision>
  <dcterms:created xsi:type="dcterms:W3CDTF">2020-10-21T08:07:57Z</dcterms:created>
  <dcterms:modified xsi:type="dcterms:W3CDTF">2026-10-31T19:15:26Z</dcterms:modified>
</cp:coreProperties>
</file>